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Gelasio"/>
      <p:regular r:id="rId201314"/>
    </p:embeddedFont>
    <p:embeddedFont>
      <p:font typeface="Gelasio SemiBold"/>
      <p:regular r:id="rId201315"/>
    </p:embeddedFont>
    <p:embeddedFont>
      <p:font typeface="Gelasio Bold"/>
      <p:regular r:id="rId201316"/>
    </p:embeddedFont>
    <p:embeddedFont>
      <p:font typeface="Gelasio Medium"/>
      <p:regular r:id="rId201317"/>
    </p:embeddedFont>
    <p:embeddedFont>
      <p:font typeface="Lato Thin"/>
      <p:regular r:id="rId201318"/>
    </p:embeddedFont>
    <p:embeddedFont>
      <p:font typeface="Lato Light"/>
      <p:regular r:id="rId201319"/>
    </p:embeddedFont>
    <p:embeddedFont>
      <p:font typeface="Lato"/>
      <p:regular r:id="rId201320"/>
    </p:embeddedFont>
    <p:embeddedFont>
      <p:font typeface="Lato Bold"/>
      <p:regular r:id="rId201321"/>
    </p:embeddedFont>
    <p:embeddedFont>
      <p:font typeface="Lato Black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80976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Credit Card Approval Prediction using Machine Learning and IBM Watson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922538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AI-based banking decision support system — final year major project designed for accurate, fast, and scalable credit decisions.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Footer: Final Year Major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8923"/>
            <a:ext cx="2628007" cy="27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925119" y="824880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Banks process thousands of credit card applications daily. Manual verification creates bottlenecks and operational risk.</a:t>
            </a:r>
            <a:endParaRPr lang="en-US" sz="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224930"/>
            <a:ext cx="271314" cy="2713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25119" y="1600051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Time-consuming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3925119" y="1819424"/>
            <a:ext cx="47227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Slow turnaround for decisions increases customer friction and backlog.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138883"/>
            <a:ext cx="271314" cy="2713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25119" y="2514005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Human errors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3925119" y="2733377"/>
            <a:ext cx="47227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Inconsistent checks and accidental oversights lead to incorrect outcomes.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052837"/>
            <a:ext cx="271314" cy="2713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25119" y="3427958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 operational cost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3925119" y="3647331"/>
            <a:ext cx="47227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Manual review requires staffing, training, and sustained overhead.</a:t>
            </a:r>
            <a:endParaRPr lang="en-US" sz="8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966790"/>
            <a:ext cx="271314" cy="27131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925119" y="4341912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Fraud risk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3925119" y="4561284"/>
            <a:ext cx="47227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Difficulty identifying sophisticated or synthetic identity fraud in real time.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1108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52898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build a supervised ML system that predicts application approval — from data ingestion to cloud deployment.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15269"/>
            <a:ext cx="552450" cy="341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5748" y="1915269"/>
            <a:ext cx="117537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Collect Applicant Information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225748" y="2664693"/>
            <a:ext cx="117537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Gather demographic, financial, and credit-history fields from bank records and third-party providers.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915269"/>
            <a:ext cx="552450" cy="3414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07928" y="1915269"/>
            <a:ext cx="117544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Preprocess &amp; Feature Engineering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307928" y="2664693"/>
            <a:ext cx="117544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Clean data, encode categorical variables, scale numeric features, and construct derived indicators.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915269"/>
            <a:ext cx="552450" cy="3414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90183" y="1915269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Train Multiple Algorithms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5390183" y="2443237"/>
            <a:ext cx="117544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Compare logistic regression, decision tree, random forest, and XGBoost using cross-validation.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915269"/>
            <a:ext cx="552450" cy="3414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72437" y="1915269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Deploy Best Model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7472437" y="2443237"/>
            <a:ext cx="117544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Expose prediction API via Flask and host model on IBM Watson Machine Learning for scalable inference.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17984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655862"/>
            <a:ext cx="1931566" cy="1501453"/>
          </a:xfrm>
          <a:prstGeom prst="roundRect">
            <a:avLst>
              <a:gd name="adj" fmla="val 3966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802383"/>
            <a:ext cx="16385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Automate credit approvals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330351"/>
            <a:ext cx="163852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Reduce manual intervention and standardize decisions.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9443" y="1655862"/>
            <a:ext cx="1931640" cy="1501453"/>
          </a:xfrm>
          <a:prstGeom prst="roundRect">
            <a:avLst>
              <a:gd name="adj" fmla="val 3966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15964" y="1802383"/>
            <a:ext cx="163859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Reduce human effort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15964" y="2330351"/>
            <a:ext cx="163859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Free staff for complex exceptions and customer care.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1655862"/>
            <a:ext cx="1931640" cy="1501453"/>
          </a:xfrm>
          <a:prstGeom prst="roundRect">
            <a:avLst>
              <a:gd name="adj" fmla="val 3966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9363" y="1802383"/>
            <a:ext cx="16385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 accuracy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89363" y="2108895"/>
            <a:ext cx="163859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 data-driven models to reduce false approvals and rejections.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16241" y="1655862"/>
            <a:ext cx="1931640" cy="1501453"/>
          </a:xfrm>
          <a:prstGeom prst="roundRect">
            <a:avLst>
              <a:gd name="adj" fmla="val 3966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62763" y="1802383"/>
            <a:ext cx="163859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Reduce financial risk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62763" y="2330351"/>
            <a:ext cx="163859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Lower default and fraud exposure with predictive scoring.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299073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640" y="3445594"/>
            <a:ext cx="22325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Enable real-time predictions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2640" y="3752106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Decision within milliseconds for online applications.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2842" y="3299073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9363" y="344559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Cloud deployment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89363" y="3752106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Scalable hosting on IBM Watson for enterprise readiness.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0018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Real-World Scenarios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90204"/>
            <a:ext cx="3053135" cy="173005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9892" y="1346448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31432" y="134644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Automated Screening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431432" y="1709663"/>
            <a:ext cx="422113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Fast triage: auto-approve low-risk applicants and flag exceptions for review.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9892" y="2446809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31432" y="24468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High-Risk Detection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431432" y="2810024"/>
            <a:ext cx="422113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scoring surfaces potential fraud or credit risk for manual investigation.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99892" y="3547170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31432" y="3547170"/>
            <a:ext cx="260605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Self-Eligibility Checker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431432" y="3910385"/>
            <a:ext cx="422113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Consumers get instant pre-qualification feedback via web or mobile interfaces.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35162"/>
            <a:ext cx="3417912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— Key Features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173039"/>
            <a:ext cx="571798" cy="714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5096" y="217303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Applicant Details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45096" y="2479551"/>
            <a:ext cx="18501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Income, Gender, Occupation, Family Size, Education, Housing, Employment status.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173039"/>
            <a:ext cx="571798" cy="714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1410" y="2173039"/>
            <a:ext cx="18501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Credit &amp; Payment Details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21410" y="2701007"/>
            <a:ext cx="18501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Loan history, payment timeliness, credit balance, recent credit inquiries, outstanding obligations.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173039"/>
            <a:ext cx="571798" cy="714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97725" y="2173039"/>
            <a:ext cx="18501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Supervised Learning Setup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797725" y="2701007"/>
            <a:ext cx="18501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Historical banking records labeled with approval outcome used to train classifiers.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2346"/>
            <a:ext cx="2805187" cy="29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Preprocessing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3925119" y="871537"/>
            <a:ext cx="5179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Systematic cleaning and transformation applied to ensure high-quality inputs for modeling.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167185"/>
            <a:ext cx="117351" cy="11735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925119" y="1337742"/>
            <a:ext cx="4722763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7" name="Text 3"/>
          <p:cNvSpPr/>
          <p:nvPr/>
        </p:nvSpPr>
        <p:spPr>
          <a:xfrm>
            <a:off x="3925119" y="1424955"/>
            <a:ext cx="1560314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Missing Value Handling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3925119" y="1666652"/>
            <a:ext cx="47227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Impute or drop based on missingness pattern; preserve sample integrity.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038201"/>
            <a:ext cx="117351" cy="11735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925119" y="2208758"/>
            <a:ext cx="4722763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1" name="Text 6"/>
          <p:cNvSpPr/>
          <p:nvPr/>
        </p:nvSpPr>
        <p:spPr>
          <a:xfrm>
            <a:off x="3925119" y="2295971"/>
            <a:ext cx="179218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Remove Duplicates &amp; Clean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3925119" y="2537668"/>
            <a:ext cx="47227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Deduplicate records and standardize formats (dates, currency).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2909218"/>
            <a:ext cx="117351" cy="117351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925119" y="3079775"/>
            <a:ext cx="4722763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5" name="Text 9"/>
          <p:cNvSpPr/>
          <p:nvPr/>
        </p:nvSpPr>
        <p:spPr>
          <a:xfrm>
            <a:off x="3925119" y="3166988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Encoding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3925119" y="3408685"/>
            <a:ext cx="47227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Label encoding for ordinal and one-hot for nominal categorical features.</a:t>
            </a:r>
            <a:endParaRPr lang="en-US" sz="9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780234"/>
            <a:ext cx="117351" cy="117351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3925119" y="3950791"/>
            <a:ext cx="4722763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9" name="Text 12"/>
          <p:cNvSpPr/>
          <p:nvPr/>
        </p:nvSpPr>
        <p:spPr>
          <a:xfrm>
            <a:off x="3925119" y="4038005"/>
            <a:ext cx="177008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 Scaling &amp; Selection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3925119" y="4279702"/>
            <a:ext cx="4722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Standardization/normalization where required and recursive feature elimination for parsimony.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4561"/>
            <a:ext cx="5858694" cy="33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Machine Learning Algorithms — Comparison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96119" y="1009948"/>
            <a:ext cx="8151763" cy="3151808"/>
          </a:xfrm>
          <a:prstGeom prst="roundRect">
            <a:avLst>
              <a:gd name="adj" fmla="val 180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014710"/>
            <a:ext cx="8142238" cy="3751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1030" y="1014710"/>
            <a:ext cx="2035522" cy="375121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6" name="Text 4"/>
          <p:cNvSpPr/>
          <p:nvPr/>
        </p:nvSpPr>
        <p:spPr>
          <a:xfrm>
            <a:off x="636091" y="1096714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Algorithm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36552" y="1014710"/>
            <a:ext cx="2035522" cy="375121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8" name="Text 6"/>
          <p:cNvSpPr/>
          <p:nvPr/>
        </p:nvSpPr>
        <p:spPr>
          <a:xfrm>
            <a:off x="2673995" y="1096714"/>
            <a:ext cx="22178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Advantages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74" y="1014710"/>
            <a:ext cx="2035522" cy="375121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0" name="Text 8"/>
          <p:cNvSpPr/>
          <p:nvPr/>
        </p:nvSpPr>
        <p:spPr>
          <a:xfrm>
            <a:off x="4709517" y="1096714"/>
            <a:ext cx="22178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Disadvantages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07597" y="1014710"/>
            <a:ext cx="2035522" cy="375121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2" name="Text 10"/>
          <p:cNvSpPr/>
          <p:nvPr/>
        </p:nvSpPr>
        <p:spPr>
          <a:xfrm>
            <a:off x="6745039" y="1096714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Accuracy (cv)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0881" y="1389831"/>
            <a:ext cx="8142238" cy="7973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6091" y="1471836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73995" y="1471836"/>
            <a:ext cx="176063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Interpretable, fast, baseline for binary classification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9517" y="1471836"/>
            <a:ext cx="1760637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Limited nonlinear capacity, sensitive to feature engineering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45039" y="1471836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Baseline (e.g., 78–82%)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0881" y="2187178"/>
            <a:ext cx="8142238" cy="5862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6091" y="2269182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73995" y="2269182"/>
            <a:ext cx="176063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Easy to visualize, handles mixed data types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09517" y="2269182"/>
            <a:ext cx="176063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Overfits if unpruned; unstable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45039" y="2269182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Moderate (e.g., 80–85%)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0881" y="2773412"/>
            <a:ext cx="8142238" cy="5862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36091" y="2855416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73995" y="2855416"/>
            <a:ext cx="176063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Robust, reduces overfitting, handles feature importance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09517" y="2855416"/>
            <a:ext cx="176063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Less interpretable, slower at inference than linear models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45039" y="2855416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 (e.g., 85–90%)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0881" y="3359646"/>
            <a:ext cx="8142238" cy="7973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6091" y="3441650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XGBoost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673995" y="3441650"/>
            <a:ext cx="1760637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State-of-the-art gradient boosting; strong performance on tabular data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09517" y="3441650"/>
            <a:ext cx="176063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Requires careful tuning, higher compute for training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45039" y="3441650"/>
            <a:ext cx="222021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Best (e.g., 88–93%)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6119" y="4306639"/>
            <a:ext cx="815176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Note: Accuracy values shown are illustrative ranges from cross-validation. XGBoost selected as best-performing after hyperparameter tuning.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95598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Model Workflow</a:t>
            </a:r>
            <a:endParaRPr lang="en-US" sz="2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662559"/>
            <a:ext cx="4722763" cy="17721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12044" y="3004519"/>
            <a:ext cx="71232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Train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3414322" y="3004519"/>
            <a:ext cx="71232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Train/Test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2521479" y="3004519"/>
            <a:ext cx="71232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 Eng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628635" y="3004519"/>
            <a:ext cx="71232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Preprocess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16276" y="3004519"/>
            <a:ext cx="71232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Raw Data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96119" y="359419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end-to-end flow ensures reproducibility: versioned data → pipeline transforms → model artifacts packaged for cloud deployment.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2026-07-06T04:29:49Z</dcterms:created>
  <dcterms:modified xsi:type="dcterms:W3CDTF">2026-07-06T04:29:49Z</dcterms:modified>
</cp:coreProperties>
</file>